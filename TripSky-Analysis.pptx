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4" name="Shape 2"/>
          <p:cNvSpPr/>
          <p:nvPr/>
        </p:nvSpPr>
        <p:spPr>
          <a:xfrm>
            <a:off x="411435" y="412552"/>
            <a:ext cx="914400" cy="28575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919" y="410394"/>
            <a:ext cx="4776788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860" spc="34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TRIPSKY · RAPPORT D'ANALYSE</a:t>
            </a:r>
            <a:endParaRPr lang="en-US" sz="860" dirty="0"/>
          </a:p>
        </p:txBody>
      </p:sp>
      <p:sp>
        <p:nvSpPr>
          <p:cNvPr id="6" name="Text 4"/>
          <p:cNvSpPr/>
          <p:nvPr/>
        </p:nvSpPr>
        <p:spPr>
          <a:xfrm>
            <a:off x="411919" y="1184225"/>
            <a:ext cx="4776788" cy="21955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320" b="1" spc="-10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Pourquoi nos</a:t>
            </a:r>
            <a:pPr algn="l" indent="0" marL="0">
              <a:lnSpc>
                <a:spcPts val="4320"/>
              </a:lnSpc>
              <a:buNone/>
            </a:pPr>
            <a:r>
              <a:rPr lang="en-US" sz="4320" b="1" spc="-108" kern="0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ventes stagnent</a:t>
            </a:r>
            <a:pPr algn="l" indent="0" marL="0">
              <a:lnSpc>
                <a:spcPts val="4320"/>
              </a:lnSpc>
              <a:buNone/>
            </a:pPr>
            <a:r>
              <a:rPr lang="en-US" sz="4320" b="1" spc="-108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 comment les relancer.</a:t>
            </a:r>
            <a:endParaRPr lang="en-US" sz="4320" dirty="0"/>
          </a:p>
        </p:txBody>
      </p:sp>
      <p:sp>
        <p:nvSpPr>
          <p:cNvPr id="7" name="Text 5"/>
          <p:cNvSpPr/>
          <p:nvPr/>
        </p:nvSpPr>
        <p:spPr>
          <a:xfrm>
            <a:off x="411435" y="3533924"/>
            <a:ext cx="3657600" cy="4381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28"/>
              </a:lnSpc>
              <a:spcBef>
                <a:spcPts val="1215"/>
              </a:spcBef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Analyse de 798 clients et 800 jours d'activité, du 01/01/2023 au 10/03/2025.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919" y="4580334"/>
            <a:ext cx="4776788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Présenté à June, Directrice Marketing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5807459" y="3569084"/>
            <a:ext cx="2924175" cy="11620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4288" dist="4763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55109" y="3721931"/>
            <a:ext cx="24479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055109" y="3935760"/>
            <a:ext cx="2447925" cy="6429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spcBef>
                <a:spcPts val="607"/>
              </a:spcBef>
              <a:buNone/>
            </a:pPr>
            <a:r>
              <a:rPr lang="en-US" sz="122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Où concentrer le budget marketing pour faire repartir le revenu ?</a:t>
            </a:r>
            <a:endParaRPr lang="en-US" sz="122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07459" y="3569084"/>
            <a:ext cx="2924175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411956" y="410952"/>
            <a:ext cx="83200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 · CONTEXTE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956" y="650751"/>
            <a:ext cx="8320087" cy="4333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2"/>
              </a:lnSpc>
              <a:spcBef>
                <a:spcPts val="810"/>
              </a:spcBef>
              <a:buNone/>
            </a:pPr>
            <a:r>
              <a:rPr lang="en-US" sz="32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sujet, en une diapo.</a:t>
            </a:r>
            <a:endParaRPr lang="en-US" sz="3240" dirty="0"/>
          </a:p>
        </p:txBody>
      </p:sp>
      <p:sp>
        <p:nvSpPr>
          <p:cNvPr id="5" name="Shape 3"/>
          <p:cNvSpPr/>
          <p:nvPr/>
        </p:nvSpPr>
        <p:spPr>
          <a:xfrm>
            <a:off x="410989" y="1390910"/>
            <a:ext cx="2652713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65770" y="1565188"/>
            <a:ext cx="23431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50" spc="194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L'ENTREPRISE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565770" y="1765027"/>
            <a:ext cx="2343150" cy="64293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spcBef>
                <a:spcPts val="607"/>
              </a:spcBef>
              <a:buNone/>
            </a:pPr>
            <a:r>
              <a:rPr lang="en-US" sz="122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TripSky vend des voyages insolites — aventure, détente, culture.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245644" y="1390910"/>
            <a:ext cx="2652713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00425" y="1565188"/>
            <a:ext cx="23431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50" spc="194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L'OBJECTIF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3400425" y="1765325"/>
            <a:ext cx="2343150" cy="4286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spcBef>
                <a:spcPts val="607"/>
              </a:spcBef>
              <a:buNone/>
            </a:pPr>
            <a:r>
              <a:rPr lang="en-US" sz="122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Augmenter les ventes sur l'exercice en cours.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080299" y="1390910"/>
            <a:ext cx="2652713" cy="1171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35080" y="1565188"/>
            <a:ext cx="2343150" cy="1238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650" spc="194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MISSION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235080" y="1765325"/>
            <a:ext cx="2343150" cy="4286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spcBef>
                <a:spcPts val="607"/>
              </a:spcBef>
              <a:buNone/>
            </a:pPr>
            <a:r>
              <a:rPr lang="en-US" sz="122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Trouver les leviers d'action prioritaires pour June.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411473" y="2869443"/>
            <a:ext cx="54864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QUESTION ANALYTIQUE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11473" y="3084463"/>
            <a:ext cx="5486400" cy="5524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8"/>
              </a:lnSpc>
              <a:spcBef>
                <a:spcPts val="607"/>
              </a:spcBef>
              <a:buNone/>
            </a:pPr>
            <a:r>
              <a:rPr lang="en-US" sz="158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 quels segments concentrer l'effort marketing,</a:t>
            </a:r>
            <a:pPr algn="l" indent="0" marL="0">
              <a:lnSpc>
                <a:spcPts val="2178"/>
              </a:lnSpc>
              <a:buNone/>
            </a:pPr>
            <a:r>
              <a:rPr lang="en-US" sz="158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et quelle part du budget pub est vraiment efficace</a:t>
            </a:r>
            <a:pPr algn="l" indent="0" marL="0">
              <a:lnSpc>
                <a:spcPts val="2178"/>
              </a:lnSpc>
              <a:spcBef>
                <a:spcPts val="607"/>
              </a:spcBef>
              <a:buNone/>
            </a:pPr>
            <a:r>
              <a:rPr lang="en-US" sz="158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?</a:t>
            </a:r>
            <a:endParaRPr lang="en-US" sz="1580" dirty="0"/>
          </a:p>
        </p:txBody>
      </p:sp>
      <p:sp>
        <p:nvSpPr>
          <p:cNvPr id="16" name="Text 14"/>
          <p:cNvSpPr/>
          <p:nvPr/>
        </p:nvSpPr>
        <p:spPr>
          <a:xfrm>
            <a:off x="7856153" y="2870411"/>
            <a:ext cx="876300" cy="319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252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798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7856153" y="3240918"/>
            <a:ext cx="8763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20" spc="36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CLIENTS ANALYSÉS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7856153" y="3481871"/>
            <a:ext cx="876300" cy="319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2520"/>
              </a:lnSpc>
              <a:spcBef>
                <a:spcPts val="810"/>
              </a:spcBef>
              <a:buNone/>
            </a:pPr>
            <a:r>
              <a:rPr lang="en-US" sz="252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800</a:t>
            </a:r>
            <a:endParaRPr lang="en-US" sz="2520" dirty="0"/>
          </a:p>
        </p:txBody>
      </p:sp>
      <p:sp>
        <p:nvSpPr>
          <p:cNvPr id="19" name="Text 17"/>
          <p:cNvSpPr/>
          <p:nvPr/>
        </p:nvSpPr>
        <p:spPr>
          <a:xfrm>
            <a:off x="7856153" y="3852379"/>
            <a:ext cx="8763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20" spc="36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JOURS D'ACTIVITÉ</a:t>
            </a:r>
            <a:endParaRPr lang="en-US" sz="7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989" y="1390910"/>
            <a:ext cx="2652713" cy="1171575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5644" y="1390910"/>
            <a:ext cx="2652713" cy="1171575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0299" y="1390910"/>
            <a:ext cx="2652713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411956" y="410952"/>
            <a:ext cx="83200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· DONNÉES &amp; MÉTHODE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956" y="652463"/>
            <a:ext cx="8320087" cy="8620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2"/>
              </a:lnSpc>
              <a:spcBef>
                <a:spcPts val="810"/>
              </a:spcBef>
              <a:buNone/>
            </a:pPr>
            <a:r>
              <a:rPr lang="en-US" sz="32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fichiers, un nettoyage, puis l'analyse.</a:t>
            </a:r>
            <a:endParaRPr lang="en-US" sz="3240" dirty="0"/>
          </a:p>
        </p:txBody>
      </p:sp>
      <p:sp>
        <p:nvSpPr>
          <p:cNvPr id="5" name="Shape 3"/>
          <p:cNvSpPr/>
          <p:nvPr/>
        </p:nvSpPr>
        <p:spPr>
          <a:xfrm>
            <a:off x="410505" y="1771799"/>
            <a:ext cx="4048125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10530" y="1952216"/>
            <a:ext cx="36671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DONNÉES CLIENTS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610530" y="2166007"/>
            <a:ext cx="3667125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spcBef>
                <a:spcPts val="607"/>
              </a:spcBef>
              <a:buNone/>
            </a:pPr>
            <a:r>
              <a:rPr lang="en-US" sz="144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801 lignes · 16 colonnes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610530" y="2570931"/>
            <a:ext cx="36671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spcBef>
                <a:spcPts val="1013"/>
              </a:spcBef>
              <a:buNone/>
            </a:pPr>
            <a:r>
              <a:rPr lang="en-US" sz="860" dirty="0">
                <a:solidFill>
                  <a:srgbClr val="142B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Profil, voyage, prix, évaluation, dates de séjour.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610530" y="2851993"/>
            <a:ext cx="3667125" cy="2952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spcBef>
                <a:spcPts val="810"/>
              </a:spcBef>
              <a:buNone/>
            </a:pPr>
            <a:r>
              <a:rPr lang="en-US" sz="72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Nettoyage : 3 doublons d'ID retirés, 3 âges aberrants (220, 350, 4100) corrigés, casse harmonisée.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685370" y="1771799"/>
            <a:ext cx="4048125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85395" y="1952216"/>
            <a:ext cx="36671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DONNÉES ENTREPRISE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885395" y="2166007"/>
            <a:ext cx="3667125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spcBef>
                <a:spcPts val="607"/>
              </a:spcBef>
              <a:buNone/>
            </a:pPr>
            <a:r>
              <a:rPr lang="en-US" sz="144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800 jours · 5 indicateurs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885395" y="2570931"/>
            <a:ext cx="3667125" cy="1762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4"/>
              </a:lnSpc>
              <a:spcBef>
                <a:spcPts val="1013"/>
              </a:spcBef>
              <a:buNone/>
            </a:pPr>
            <a:r>
              <a:rPr lang="en-US" sz="860" dirty="0">
                <a:solidFill>
                  <a:srgbClr val="142B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Clients, revenu, dépenses publicitaires, réservations par jour.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4885395" y="2851510"/>
            <a:ext cx="3667125" cy="14763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spcBef>
                <a:spcPts val="810"/>
              </a:spcBef>
              <a:buNone/>
            </a:pPr>
            <a:r>
              <a:rPr lang="en-US" sz="72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Période : 01/01/2023 → 10/03/2025. Pas de manquant.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411175" y="3605473"/>
            <a:ext cx="6762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APPROCHE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360996" y="3586423"/>
            <a:ext cx="4962525" cy="176212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4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Exploration</a:t>
            </a:r>
            <a:pPr algn="l" indent="0" marL="0">
              <a:lnSpc>
                <a:spcPts val="1404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lnSpc>
                <a:spcPts val="1404"/>
              </a:lnSpc>
              <a:buNone/>
            </a:pPr>
            <a:r>
              <a:rPr lang="en-US" sz="94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Nettoyage</a:t>
            </a:r>
            <a:pPr algn="l" indent="0" marL="0">
              <a:lnSpc>
                <a:spcPts val="1404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lnSpc>
                <a:spcPts val="1404"/>
              </a:lnSpc>
              <a:buNone/>
            </a:pPr>
            <a:r>
              <a:rPr lang="en-US" sz="94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Croisements clés</a:t>
            </a:r>
            <a:pPr algn="l" indent="0" marL="0">
              <a:lnSpc>
                <a:spcPts val="1404"/>
              </a:lnSpc>
              <a:buNone/>
            </a:pPr>
            <a:r>
              <a:rPr lang="en-US" sz="940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→</a:t>
            </a:r>
            <a:pPr algn="l" indent="0" marL="0">
              <a:lnSpc>
                <a:spcPts val="1404"/>
              </a:lnSpc>
              <a:buNone/>
            </a:pPr>
            <a:r>
              <a:rPr lang="en-US" sz="9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Recommandations chiffrées</a:t>
            </a:r>
            <a:endParaRPr lang="en-US" sz="94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505" y="1771799"/>
            <a:ext cx="4048125" cy="1557338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5370" y="1771799"/>
            <a:ext cx="4048125" cy="1557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411807" y="359532"/>
            <a:ext cx="69056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CONSTAT 1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1240334" y="423788"/>
            <a:ext cx="547687" cy="9525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11956" y="600596"/>
            <a:ext cx="8320087" cy="766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publicité </a:t>
            </a:r>
            <a:pPr algn="l" indent="0" marL="0">
              <a:lnSpc>
                <a:spcPts val="3024"/>
              </a:lnSpc>
              <a:buNone/>
            </a:pPr>
            <a:r>
              <a:rPr lang="en-US" sz="288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n'achète pas</a:t>
            </a:r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 revenu supplémentaire.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11919" y="1574081"/>
            <a:ext cx="4757738" cy="3300413"/>
          </a:xfrm>
          <a:prstGeom prst="rect">
            <a:avLst/>
          </a:prstGeom>
          <a:solidFill>
            <a:srgbClr val="FFFFFF"/>
          </a:solidFill>
          <a:ln w="4763">
            <a:solidFill>
              <a:srgbClr val="F4F1EC"/>
            </a:solidFill>
            <a:prstDash val="solid"/>
          </a:ln>
          <a:effectLst>
            <a:outerShdw sx="100000" sy="100000" kx="0" ky="0" algn="bl" rotWithShape="0" blurRad="14288" dist="4763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075" y="1681237"/>
            <a:ext cx="4543425" cy="30861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8777" y="1573634"/>
            <a:ext cx="3333750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 = −0,04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398777" y="2081510"/>
            <a:ext cx="33337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Bef>
                <a:spcPts val="405"/>
              </a:spcBef>
              <a:buNone/>
            </a:pPr>
            <a:r>
              <a:rPr lang="en-US" sz="790" spc="40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CORRÉLATION PUB / REVENU JOURNALIER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5398777" y="2361530"/>
            <a:ext cx="3333750" cy="60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546415" y="2490118"/>
            <a:ext cx="3057525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1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 800 jours analysés, les journées à plus gros budget pub ne génèrent </a:t>
            </a:r>
            <a:pPr algn="l" indent="0" marL="0">
              <a:lnSpc>
                <a:spcPts val="1386"/>
              </a:lnSpc>
              <a:buNone/>
            </a:pPr>
            <a:r>
              <a:rPr lang="en-US" sz="101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</a:t>
            </a:r>
            <a:pPr algn="l" indent="0" marL="0">
              <a:lnSpc>
                <a:spcPts val="1386"/>
              </a:lnSpc>
              <a:buNone/>
            </a:pPr>
            <a:r>
              <a:rPr lang="en-US" sz="101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plus de revenu.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5397810" y="3100053"/>
            <a:ext cx="1600200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3,97 M€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5397810" y="3327127"/>
            <a:ext cx="16002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03"/>
              </a:spcBef>
              <a:buNone/>
            </a:pPr>
            <a:r>
              <a:rPr lang="en-US" sz="680" spc="34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 CUMULÉ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7133295" y="3100053"/>
            <a:ext cx="1600200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4,01 M€</a:t>
            </a:r>
            <a:endParaRPr lang="en-US" sz="1580" dirty="0"/>
          </a:p>
        </p:txBody>
      </p:sp>
      <p:sp>
        <p:nvSpPr>
          <p:cNvPr id="15" name="Text 12"/>
          <p:cNvSpPr/>
          <p:nvPr/>
        </p:nvSpPr>
        <p:spPr>
          <a:xfrm>
            <a:off x="7133295" y="3327127"/>
            <a:ext cx="16002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03"/>
              </a:spcBef>
              <a:buNone/>
            </a:pPr>
            <a:r>
              <a:rPr lang="en-US" sz="680" spc="34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DÉPENSES PUB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5398777" y="3583930"/>
            <a:ext cx="3333750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760" dirty="0">
                <a:solidFill>
                  <a:srgbClr val="142B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pub coûte plus qu'elle ne rapporte. Le problème n'est pas le montant — c'est l'allocation.</a:t>
            </a:r>
            <a:endParaRPr lang="en-US" sz="76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77" y="2361530"/>
            <a:ext cx="333375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410728" y="359532"/>
            <a:ext cx="7096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CONSTAT 2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1257226" y="423788"/>
            <a:ext cx="547687" cy="9525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3"/>
          <p:cNvSpPr/>
          <p:nvPr/>
        </p:nvSpPr>
        <p:spPr>
          <a:xfrm>
            <a:off x="411956" y="600596"/>
            <a:ext cx="8320087" cy="766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 revenu se concentre sur </a:t>
            </a:r>
            <a:pPr algn="l" indent="0" marL="0">
              <a:lnSpc>
                <a:spcPts val="3024"/>
              </a:lnSpc>
              <a:buNone/>
            </a:pPr>
            <a:r>
              <a:rPr lang="en-US" sz="288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quelques destinations</a:t>
            </a:r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et </a:t>
            </a:r>
            <a:pPr algn="l" indent="0" marL="0">
              <a:lnSpc>
                <a:spcPts val="3024"/>
              </a:lnSpc>
              <a:buNone/>
            </a:pPr>
            <a:r>
              <a:rPr lang="en-US" sz="288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saisons</a:t>
            </a:r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11919" y="1573523"/>
            <a:ext cx="4757738" cy="3033712"/>
          </a:xfrm>
          <a:prstGeom prst="rect">
            <a:avLst/>
          </a:prstGeom>
          <a:solidFill>
            <a:srgbClr val="FFFFFF"/>
          </a:solidFill>
          <a:ln w="4763">
            <a:solidFill>
              <a:srgbClr val="F4F1EC"/>
            </a:solidFill>
            <a:prstDash val="solid"/>
          </a:ln>
          <a:effectLst>
            <a:outerShdw sx="100000" sy="100000" kx="0" ky="0" algn="bl" rotWithShape="0" blurRad="14288" dist="4763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075" y="1680679"/>
            <a:ext cx="4543425" cy="2819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8777" y="1573634"/>
            <a:ext cx="3333750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32 %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398777" y="2081510"/>
            <a:ext cx="3333750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Bef>
                <a:spcPts val="405"/>
              </a:spcBef>
              <a:buNone/>
            </a:pPr>
            <a:r>
              <a:rPr lang="en-US" sz="790" spc="40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 REVENU VIENT DU TOP 3 DESTINATIONS</a:t>
            </a:r>
            <a:endParaRPr lang="en-US" sz="790" dirty="0"/>
          </a:p>
        </p:txBody>
      </p:sp>
      <p:sp>
        <p:nvSpPr>
          <p:cNvPr id="10" name="Shape 7"/>
          <p:cNvSpPr/>
          <p:nvPr/>
        </p:nvSpPr>
        <p:spPr>
          <a:xfrm>
            <a:off x="5398777" y="2361233"/>
            <a:ext cx="3333750" cy="6619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546415" y="2491048"/>
            <a:ext cx="3057525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94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Trois destinations dominent :</a:t>
            </a:r>
            <a:pPr algn="l" indent="0" marL="0">
              <a:lnSpc>
                <a:spcPts val="1287"/>
              </a:lnSpc>
              <a:buNone/>
            </a:pPr>
            <a:r>
              <a:rPr lang="en-US" sz="94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Népal, Bali, France.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5546415" y="2731480"/>
            <a:ext cx="3057525" cy="1619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87"/>
              </a:lnSpc>
              <a:spcBef>
                <a:spcPts val="607"/>
              </a:spcBef>
              <a:buNone/>
            </a:pPr>
            <a:r>
              <a:rPr lang="en-US" sz="94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saisons portent les ventes :</a:t>
            </a:r>
            <a:pPr algn="l" indent="0" marL="0">
              <a:lnSpc>
                <a:spcPts val="1287"/>
              </a:lnSpc>
              <a:buNone/>
            </a:pPr>
            <a:r>
              <a:rPr lang="en-US" sz="94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été et hiver.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5398777" y="3151845"/>
            <a:ext cx="3333750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+54 %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5398777" y="3378919"/>
            <a:ext cx="333375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03"/>
              </a:spcBef>
              <a:buNone/>
            </a:pPr>
            <a:r>
              <a:rPr lang="en-US" sz="680" spc="34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 REVENU ÉTÉ VS. PRINTEMPS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5398777" y="3635722"/>
            <a:ext cx="3333750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9"/>
              </a:lnSpc>
              <a:buNone/>
            </a:pPr>
            <a:r>
              <a:rPr lang="en-US" sz="760" dirty="0">
                <a:solidFill>
                  <a:srgbClr val="142B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 marketing actuel arrose tout. Or, l'argent est ailleurs : sur un cœur de cible identifiable.</a:t>
            </a:r>
            <a:endParaRPr lang="en-US" sz="76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77" y="2361233"/>
            <a:ext cx="3333750" cy="6619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411026" y="359532"/>
            <a:ext cx="14239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SIGNAL DE VIGILANCE</a:t>
            </a:r>
            <a:endParaRPr lang="en-US" sz="720" dirty="0"/>
          </a:p>
        </p:txBody>
      </p:sp>
      <p:sp>
        <p:nvSpPr>
          <p:cNvPr id="4" name="Shape 2"/>
          <p:cNvSpPr/>
          <p:nvPr/>
        </p:nvSpPr>
        <p:spPr>
          <a:xfrm>
            <a:off x="1972196" y="423788"/>
            <a:ext cx="547687" cy="9525"/>
          </a:xfrm>
          <a:prstGeom prst="rect">
            <a:avLst/>
          </a:prstGeom>
          <a:solidFill>
            <a:srgbClr val="6B7785"/>
          </a:solidFill>
          <a:ln/>
        </p:spPr>
      </p:sp>
      <p:sp>
        <p:nvSpPr>
          <p:cNvPr id="5" name="Text 3"/>
          <p:cNvSpPr/>
          <p:nvPr/>
        </p:nvSpPr>
        <p:spPr>
          <a:xfrm>
            <a:off x="411956" y="599108"/>
            <a:ext cx="8320087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satisfaction client est </a:t>
            </a:r>
            <a:pPr algn="l" indent="0" marL="0">
              <a:lnSpc>
                <a:spcPts val="3024"/>
              </a:lnSpc>
              <a:buNone/>
            </a:pPr>
            <a:r>
              <a:rPr lang="en-US" sz="288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zone rouge</a:t>
            </a:r>
            <a:pPr algn="l" indent="0" marL="0">
              <a:lnSpc>
                <a:spcPts val="3024"/>
              </a:lnSpc>
              <a:spcBef>
                <a:spcPts val="810"/>
              </a:spcBef>
              <a:buNone/>
            </a:pPr>
            <a:r>
              <a:rPr lang="en-US" sz="288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2880" dirty="0"/>
          </a:p>
        </p:txBody>
      </p:sp>
      <p:sp>
        <p:nvSpPr>
          <p:cNvPr id="6" name="Shape 4"/>
          <p:cNvSpPr/>
          <p:nvPr/>
        </p:nvSpPr>
        <p:spPr>
          <a:xfrm>
            <a:off x="410505" y="1241524"/>
            <a:ext cx="4048125" cy="2571750"/>
          </a:xfrm>
          <a:prstGeom prst="rect">
            <a:avLst/>
          </a:prstGeom>
          <a:solidFill>
            <a:srgbClr val="FFFFFF"/>
          </a:solidFill>
          <a:ln w="4763">
            <a:solidFill>
              <a:srgbClr val="F4F1EC"/>
            </a:solidFill>
            <a:prstDash val="solid"/>
          </a:ln>
          <a:effectLst>
            <a:outerShdw sx="100000" sy="100000" kx="0" ky="0" algn="bl" rotWithShape="0" blurRad="14288" dist="4763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43" y="1348680"/>
            <a:ext cx="3829050" cy="2357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85370" y="1398836"/>
            <a:ext cx="4048125" cy="638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504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2,5</a:t>
            </a:r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/5</a:t>
            </a:r>
            <a:endParaRPr lang="en-US" sz="5040" dirty="0"/>
          </a:p>
        </p:txBody>
      </p:sp>
      <p:sp>
        <p:nvSpPr>
          <p:cNvPr id="9" name="Text 6"/>
          <p:cNvSpPr/>
          <p:nvPr/>
        </p:nvSpPr>
        <p:spPr>
          <a:xfrm>
            <a:off x="4685370" y="2062609"/>
            <a:ext cx="4048125" cy="1666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96"/>
              </a:lnSpc>
              <a:spcBef>
                <a:spcPts val="203"/>
              </a:spcBef>
              <a:buNone/>
            </a:pPr>
            <a:r>
              <a:rPr lang="en-US" sz="860" spc="43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 MOYENNE DES CLIENTS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4685370" y="2382701"/>
            <a:ext cx="4048125" cy="4763"/>
          </a:xfrm>
          <a:prstGeom prst="rect">
            <a:avLst/>
          </a:prstGeom>
          <a:solidFill>
            <a:srgbClr val="6B7785">
              <a:alpha val="3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685370" y="2541910"/>
            <a:ext cx="4048125" cy="4572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52 %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685370" y="3024039"/>
            <a:ext cx="4048125" cy="1524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88"/>
              </a:lnSpc>
              <a:spcBef>
                <a:spcPts val="203"/>
              </a:spcBef>
              <a:buNone/>
            </a:pPr>
            <a:r>
              <a:rPr lang="en-US" sz="790" spc="40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 CLIENTS DONNENT 2 OU MOINS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4685370" y="3329136"/>
            <a:ext cx="4048125" cy="3286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790" dirty="0">
                <a:solidFill>
                  <a:srgbClr val="142B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Pour une marque d'expérience, c'est un frein direct à la recommandation et au rachat. Acquérir coûte cher quand la base ne revient pas.</a:t>
            </a:r>
            <a:endParaRPr lang="en-US" sz="7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731520"/>
            <a:ext cx="1828800" cy="18288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0803" y="359532"/>
            <a:ext cx="13335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RECOMMANDATION A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1881262" y="423788"/>
            <a:ext cx="547687" cy="9525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411956" y="601042"/>
            <a:ext cx="8320087" cy="8620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2"/>
              </a:lnSpc>
              <a:spcBef>
                <a:spcPts val="810"/>
              </a:spcBef>
              <a:buNone/>
            </a:pPr>
            <a:r>
              <a:rPr lang="en-US" sz="324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Couper 30 % des dépenses pub</a:t>
            </a:r>
            <a:pPr algn="l" indent="0" marL="0">
              <a:lnSpc>
                <a:spcPts val="3402"/>
              </a:lnSpc>
              <a:buNone/>
            </a:pPr>
            <a:r>
              <a:rPr lang="en-US" sz="3240" b="1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les moins efficaces.</a:t>
            </a:r>
            <a:endParaRPr lang="en-US" sz="3240" dirty="0"/>
          </a:p>
        </p:txBody>
      </p:sp>
      <p:sp>
        <p:nvSpPr>
          <p:cNvPr id="7" name="Text 5"/>
          <p:cNvSpPr/>
          <p:nvPr/>
        </p:nvSpPr>
        <p:spPr>
          <a:xfrm>
            <a:off x="411919" y="1772729"/>
            <a:ext cx="4757738" cy="6238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38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Les 20 % de jours à plus gros budget pub n'apportent pas de revenu supérieur. En coupant 30 % de ces dépenses, on libère un budget récupérable sans perte de chiffre.</a:t>
            </a:r>
            <a:endParaRPr lang="en-US" sz="1010" dirty="0"/>
          </a:p>
        </p:txBody>
      </p:sp>
      <p:sp>
        <p:nvSpPr>
          <p:cNvPr id="8" name="Shape 6"/>
          <p:cNvSpPr/>
          <p:nvPr/>
        </p:nvSpPr>
        <p:spPr>
          <a:xfrm>
            <a:off x="412403" y="2653940"/>
            <a:ext cx="2286000" cy="533400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566700" y="2654647"/>
            <a:ext cx="21336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680" spc="20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FAIRE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566700" y="2835250"/>
            <a:ext cx="2133600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Auditer le top 20 % des journées dépensières et réallouer.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2883173" y="2653940"/>
            <a:ext cx="2286000" cy="533400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3037470" y="2654647"/>
            <a:ext cx="21336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680" spc="20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 OÙ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3037470" y="2835250"/>
            <a:ext cx="2133600" cy="3524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86"/>
              </a:lnSpc>
              <a:spcBef>
                <a:spcPts val="405"/>
              </a:spcBef>
              <a:buNone/>
            </a:pPr>
            <a:r>
              <a:rPr lang="en-US" sz="101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CRM, qualité de service, campagnes ciblées (cf. Reco B).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5398777" y="1772617"/>
            <a:ext cx="3333750" cy="216217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9063" dist="952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9752" y="1952216"/>
            <a:ext cx="29718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ÉCONOMIE ANNUELLE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579752" y="2142232"/>
            <a:ext cx="2971800" cy="638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40"/>
              </a:lnSpc>
              <a:spcBef>
                <a:spcPts val="405"/>
              </a:spcBef>
              <a:buNone/>
            </a:pPr>
            <a:r>
              <a:rPr lang="en-US" sz="50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~150 k€</a:t>
            </a:r>
            <a:endParaRPr lang="en-US" sz="5040" dirty="0"/>
          </a:p>
        </p:txBody>
      </p:sp>
      <p:sp>
        <p:nvSpPr>
          <p:cNvPr id="17" name="Text 15"/>
          <p:cNvSpPr/>
          <p:nvPr/>
        </p:nvSpPr>
        <p:spPr>
          <a:xfrm>
            <a:off x="5579752" y="2833353"/>
            <a:ext cx="2971800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34"/>
              </a:lnSpc>
              <a:spcBef>
                <a:spcPts val="405"/>
              </a:spcBef>
              <a:buNone/>
            </a:pPr>
            <a:r>
              <a:rPr lang="en-US" sz="76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 an, à enveloppe revenu constante.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5579752" y="3131232"/>
            <a:ext cx="2971800" cy="4763"/>
          </a:xfrm>
          <a:prstGeom prst="rect">
            <a:avLst/>
          </a:prstGeom>
          <a:solidFill>
            <a:srgbClr val="6B7785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577967" y="3265326"/>
            <a:ext cx="619125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0,68 €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6288360" y="3341787"/>
            <a:ext cx="1604963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68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 / € pub sur les jours à fort budget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5578339" y="3548844"/>
            <a:ext cx="585788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2E7D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1,02 €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6254614" y="3625304"/>
            <a:ext cx="1347788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68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 / € pub sur les autres jours</a:t>
            </a:r>
            <a:endParaRPr lang="en-US" sz="68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403" y="2653940"/>
            <a:ext cx="2286000" cy="53340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3173" y="2653940"/>
            <a:ext cx="22860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-732004" y="3679989"/>
            <a:ext cx="2195513" cy="2195513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0468" y="359532"/>
            <a:ext cx="1338262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RECOMMANDATION B</a:t>
            </a:r>
            <a:endParaRPr lang="en-US" sz="720" dirty="0"/>
          </a:p>
        </p:txBody>
      </p:sp>
      <p:sp>
        <p:nvSpPr>
          <p:cNvPr id="5" name="Shape 3"/>
          <p:cNvSpPr/>
          <p:nvPr/>
        </p:nvSpPr>
        <p:spPr>
          <a:xfrm>
            <a:off x="1885355" y="423788"/>
            <a:ext cx="547687" cy="9525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411956" y="601042"/>
            <a:ext cx="8320087" cy="8620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2"/>
              </a:lnSpc>
              <a:spcBef>
                <a:spcPts val="810"/>
              </a:spcBef>
              <a:buNone/>
            </a:pPr>
            <a:r>
              <a:rPr lang="en-US" sz="324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Concentrer les campagnes</a:t>
            </a:r>
            <a:pPr algn="l" indent="0" marL="0">
              <a:lnSpc>
                <a:spcPts val="3402"/>
              </a:lnSpc>
              <a:buNone/>
            </a:pPr>
            <a:r>
              <a:rPr lang="en-US" sz="3240" b="1" dirty="0">
                <a:solidFill>
                  <a:srgbClr val="F5A62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sur le cœur de cible.</a:t>
            </a:r>
            <a:endParaRPr lang="en-US" sz="3240" dirty="0"/>
          </a:p>
        </p:txBody>
      </p:sp>
      <p:sp>
        <p:nvSpPr>
          <p:cNvPr id="7" name="Text 5"/>
          <p:cNvSpPr/>
          <p:nvPr/>
        </p:nvSpPr>
        <p:spPr>
          <a:xfrm>
            <a:off x="412366" y="1721495"/>
            <a:ext cx="3838575" cy="38576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Cibler les trois destinations qui portent déjà le revenu, sur les deux saisons fortes.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412068" y="2312826"/>
            <a:ext cx="1524000" cy="557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7799" y="2416969"/>
            <a:ext cx="1252537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4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Népal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47799" y="2651447"/>
            <a:ext cx="1252537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18"/>
              </a:lnSpc>
              <a:spcBef>
                <a:spcPts val="405"/>
              </a:spcBef>
              <a:buNone/>
            </a:pPr>
            <a:r>
              <a:rPr lang="en-US" sz="610" spc="31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DESTINATION 1</a:t>
            </a:r>
            <a:endParaRPr lang="en-US" sz="610" dirty="0"/>
          </a:p>
        </p:txBody>
      </p:sp>
      <p:sp>
        <p:nvSpPr>
          <p:cNvPr id="11" name="Shape 9"/>
          <p:cNvSpPr/>
          <p:nvPr/>
        </p:nvSpPr>
        <p:spPr>
          <a:xfrm>
            <a:off x="2028751" y="2312826"/>
            <a:ext cx="1524000" cy="557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2164482" y="2416969"/>
            <a:ext cx="1252537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4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Bali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2164482" y="2651447"/>
            <a:ext cx="1252537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18"/>
              </a:lnSpc>
              <a:spcBef>
                <a:spcPts val="405"/>
              </a:spcBef>
              <a:buNone/>
            </a:pPr>
            <a:r>
              <a:rPr lang="en-US" sz="610" spc="31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DESTINATION 2</a:t>
            </a:r>
            <a:endParaRPr lang="en-US" sz="610" dirty="0"/>
          </a:p>
        </p:txBody>
      </p:sp>
      <p:sp>
        <p:nvSpPr>
          <p:cNvPr id="14" name="Shape 12"/>
          <p:cNvSpPr/>
          <p:nvPr/>
        </p:nvSpPr>
        <p:spPr>
          <a:xfrm>
            <a:off x="3645433" y="2312826"/>
            <a:ext cx="1524000" cy="5572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81165" y="2416969"/>
            <a:ext cx="1252537" cy="1809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4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France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3781165" y="2651447"/>
            <a:ext cx="1252537" cy="11430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18"/>
              </a:lnSpc>
              <a:spcBef>
                <a:spcPts val="405"/>
              </a:spcBef>
              <a:buNone/>
            </a:pPr>
            <a:r>
              <a:rPr lang="en-US" sz="610" spc="31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DESTINATION 3</a:t>
            </a:r>
            <a:endParaRPr lang="en-US" sz="610" dirty="0"/>
          </a:p>
        </p:txBody>
      </p:sp>
      <p:sp>
        <p:nvSpPr>
          <p:cNvPr id="17" name="Text 15"/>
          <p:cNvSpPr/>
          <p:nvPr/>
        </p:nvSpPr>
        <p:spPr>
          <a:xfrm>
            <a:off x="410617" y="3112554"/>
            <a:ext cx="8572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×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632110" y="3024485"/>
            <a:ext cx="476250" cy="314325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Été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1198885" y="3024485"/>
            <a:ext cx="585788" cy="314325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010" b="1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Hiver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412366" y="3543821"/>
            <a:ext cx="3838575" cy="3143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29"/>
              </a:lnSpc>
              <a:spcBef>
                <a:spcPts val="1620"/>
              </a:spcBef>
              <a:buNone/>
            </a:pPr>
            <a:r>
              <a:rPr lang="en-US" sz="76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 cœur de cible pèse déjà 22 % du revenu — une hausse de conversion de seulement 15 % le transforme en relais de croissance majeur.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5398777" y="1721346"/>
            <a:ext cx="333375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9063" dist="9525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9752" y="1900796"/>
            <a:ext cx="29718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UPLIFT ANNUEL ATTENDU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579752" y="2090812"/>
            <a:ext cx="2971800" cy="6381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040"/>
              </a:lnSpc>
              <a:spcBef>
                <a:spcPts val="405"/>
              </a:spcBef>
              <a:buNone/>
            </a:pPr>
            <a:r>
              <a:rPr lang="en-US" sz="50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+123 k€</a:t>
            </a:r>
            <a:endParaRPr lang="en-US" sz="5040" dirty="0"/>
          </a:p>
        </p:txBody>
      </p:sp>
      <p:sp>
        <p:nvSpPr>
          <p:cNvPr id="24" name="Text 22"/>
          <p:cNvSpPr/>
          <p:nvPr/>
        </p:nvSpPr>
        <p:spPr>
          <a:xfrm>
            <a:off x="5579752" y="2781933"/>
            <a:ext cx="2971800" cy="14287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34"/>
              </a:lnSpc>
              <a:spcBef>
                <a:spcPts val="405"/>
              </a:spcBef>
              <a:buNone/>
            </a:pPr>
            <a:r>
              <a:rPr lang="en-US" sz="76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avec +15 % de conversion sur le cœur de cible.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5579752" y="3079812"/>
            <a:ext cx="2971800" cy="4763"/>
          </a:xfrm>
          <a:prstGeom prst="rect">
            <a:avLst/>
          </a:prstGeom>
          <a:solidFill>
            <a:srgbClr val="6B7785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579752" y="3213906"/>
            <a:ext cx="2971800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22 %</a:t>
            </a:r>
            <a:endParaRPr lang="en-US" sz="1580" dirty="0"/>
          </a:p>
        </p:txBody>
      </p:sp>
      <p:sp>
        <p:nvSpPr>
          <p:cNvPr id="27" name="Text 25"/>
          <p:cNvSpPr/>
          <p:nvPr/>
        </p:nvSpPr>
        <p:spPr>
          <a:xfrm>
            <a:off x="5579752" y="3440981"/>
            <a:ext cx="29718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03"/>
              </a:spcBef>
              <a:buNone/>
            </a:pPr>
            <a:r>
              <a:rPr lang="en-US" sz="68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part du revenu déjà captée par ce segment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5579752" y="3699532"/>
            <a:ext cx="2971800" cy="2000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4 786 €</a:t>
            </a:r>
            <a:endParaRPr lang="en-US" sz="1580" dirty="0"/>
          </a:p>
        </p:txBody>
      </p:sp>
      <p:sp>
        <p:nvSpPr>
          <p:cNvPr id="29" name="Text 27"/>
          <p:cNvSpPr/>
          <p:nvPr/>
        </p:nvSpPr>
        <p:spPr>
          <a:xfrm>
            <a:off x="5579752" y="3926607"/>
            <a:ext cx="2971800" cy="1285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6"/>
              </a:lnSpc>
              <a:spcBef>
                <a:spcPts val="203"/>
              </a:spcBef>
              <a:buNone/>
            </a:pPr>
            <a:r>
              <a:rPr lang="en-US" sz="68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panier moyen sur le segment Culturel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3" name="Text 1"/>
          <p:cNvSpPr/>
          <p:nvPr/>
        </p:nvSpPr>
        <p:spPr>
          <a:xfrm>
            <a:off x="411956" y="359532"/>
            <a:ext cx="832008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SYNTHÈSE · PLAN D'ACTION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411956" y="601042"/>
            <a:ext cx="8320087" cy="862012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2"/>
              </a:lnSpc>
              <a:spcBef>
                <a:spcPts val="810"/>
              </a:spcBef>
              <a:buNone/>
            </a:pPr>
            <a:r>
              <a:rPr lang="en-US" sz="324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Deux décisions, un trimestre, un effet mesurable.</a:t>
            </a:r>
            <a:endParaRPr lang="en-US" sz="3240" dirty="0"/>
          </a:p>
        </p:txBody>
      </p:sp>
      <p:sp>
        <p:nvSpPr>
          <p:cNvPr id="5" name="Shape 3"/>
          <p:cNvSpPr/>
          <p:nvPr/>
        </p:nvSpPr>
        <p:spPr>
          <a:xfrm>
            <a:off x="410505" y="1772320"/>
            <a:ext cx="4048125" cy="16335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0290" y="1970782"/>
            <a:ext cx="176212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856952" y="2104616"/>
            <a:ext cx="833437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ÉCONOMISER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91480" y="2348582"/>
            <a:ext cx="3686175" cy="2143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spcBef>
                <a:spcPts val="810"/>
              </a:spcBef>
              <a:buNone/>
            </a:pPr>
            <a:r>
              <a:rPr lang="en-US" sz="122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Couper 30 % du budget pub sous-performant.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91480" y="2717341"/>
            <a:ext cx="3686175" cy="319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spcBef>
                <a:spcPts val="1215"/>
              </a:spcBef>
              <a:buNone/>
            </a:pPr>
            <a:r>
              <a:rPr lang="en-US" sz="2520" b="1" dirty="0">
                <a:solidFill>
                  <a:srgbClr val="C039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~150 k€/an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591480" y="3087849"/>
            <a:ext cx="36861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2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libérés à enveloppe revenu constante.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685370" y="1772320"/>
            <a:ext cx="4048125" cy="16335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66903" y="1970782"/>
            <a:ext cx="180975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2E7D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</a:t>
            </a:r>
            <a:endParaRPr lang="en-US" sz="2160" dirty="0"/>
          </a:p>
        </p:txBody>
      </p:sp>
      <p:sp>
        <p:nvSpPr>
          <p:cNvPr id="13" name="Text 11"/>
          <p:cNvSpPr/>
          <p:nvPr/>
        </p:nvSpPr>
        <p:spPr>
          <a:xfrm>
            <a:off x="5140933" y="2104616"/>
            <a:ext cx="5953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INVESTIR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866345" y="2348582"/>
            <a:ext cx="3686175" cy="2143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83"/>
              </a:lnSpc>
              <a:spcBef>
                <a:spcPts val="810"/>
              </a:spcBef>
              <a:buNone/>
            </a:pPr>
            <a:r>
              <a:rPr lang="en-US" sz="122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Concentrer sur Népal · Bali · France en été &amp; hiver.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866345" y="2717341"/>
            <a:ext cx="3686175" cy="31908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520"/>
              </a:lnSpc>
              <a:spcBef>
                <a:spcPts val="1215"/>
              </a:spcBef>
              <a:buNone/>
            </a:pPr>
            <a:r>
              <a:rPr lang="en-US" sz="2520" b="1" dirty="0">
                <a:solidFill>
                  <a:srgbClr val="2E7D5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+123 k€/an</a:t>
            </a:r>
            <a:endParaRPr lang="en-US" sz="2520" dirty="0"/>
          </a:p>
        </p:txBody>
      </p:sp>
      <p:sp>
        <p:nvSpPr>
          <p:cNvPr id="16" name="Text 14"/>
          <p:cNvSpPr/>
          <p:nvPr/>
        </p:nvSpPr>
        <p:spPr>
          <a:xfrm>
            <a:off x="4866345" y="3087849"/>
            <a:ext cx="3686175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2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avec +15 % de conversion sur le cœur de cible.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11473" y="3713597"/>
            <a:ext cx="5486400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720" spc="216" kern="0" dirty="0">
                <a:solidFill>
                  <a:srgbClr val="6B778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 EN PARALLÈLE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11473" y="3929435"/>
            <a:ext cx="5486400" cy="400050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spcBef>
                <a:spcPts val="607"/>
              </a:spcBef>
              <a:buNone/>
            </a:pPr>
            <a:r>
              <a:rPr lang="en-US" sz="1150" dirty="0">
                <a:solidFill>
                  <a:srgbClr val="142B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Traiter la satisfaction — 2,5/5 aujourd'hui — pour transformer la base en moteur de recommandation.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080299" y="3866778"/>
            <a:ext cx="2652713" cy="276225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0F4C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~270 k€</a:t>
            </a:r>
            <a:endParaRPr lang="en-US" sz="2160" dirty="0"/>
          </a:p>
        </p:txBody>
      </p:sp>
      <p:sp>
        <p:nvSpPr>
          <p:cNvPr id="20" name="Text 18"/>
          <p:cNvSpPr/>
          <p:nvPr/>
        </p:nvSpPr>
        <p:spPr>
          <a:xfrm>
            <a:off x="6080299" y="4192972"/>
            <a:ext cx="2652713" cy="13811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1080"/>
              </a:lnSpc>
              <a:spcBef>
                <a:spcPts val="405"/>
              </a:spcBef>
              <a:buNone/>
            </a:pPr>
            <a:r>
              <a:rPr lang="en-US" sz="720" spc="36" kern="0" dirty="0">
                <a:solidFill>
                  <a:srgbClr val="6B778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 COMBINÉ A + B</a:t>
            </a:r>
            <a:endParaRPr lang="en-US" sz="72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0505" y="1772320"/>
            <a:ext cx="4048125" cy="1633538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5370" y="1772320"/>
            <a:ext cx="4048125" cy="1633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2026-05-24T15:26:55Z</dcterms:created>
  <dcterms:modified xsi:type="dcterms:W3CDTF">2026-05-24T15:26:55Z</dcterms:modified>
</cp:coreProperties>
</file>